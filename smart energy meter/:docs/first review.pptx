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4" r:id="rId8"/>
    <p:sldId id="265" r:id="rId9"/>
    <p:sldId id="266" r:id="rId10"/>
    <p:sldId id="267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isriram rocky" initials="sr" lastIdx="1" clrIdx="0">
    <p:extLst>
      <p:ext uri="{19B8F6BF-5375-455C-9EA6-DF929625EA0E}">
        <p15:presenceInfo xmlns:p15="http://schemas.microsoft.com/office/powerpoint/2012/main" userId="bdd3f87e443e80d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8BB95-C804-F5EA-7C8B-D4881A0C8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C70224-29F9-BA97-1493-5914C1C64C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42203-F709-5902-307E-B40830C3A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FA969-835C-4864-819C-2C8BA7CE33BD}" type="datetimeFigureOut">
              <a:rPr lang="en-US" smtClean="0"/>
              <a:pPr/>
              <a:t>10/28/2022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2EB85-7452-522D-951D-697FFC9BD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388E3-3D08-5A9E-D38D-FBA7A0CAA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D81D-DCF5-4E6F-9618-825660C08AD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3981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37D8B-B092-B08E-4407-B86F93B2A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8ACB0-2244-9957-C9EA-4F269986A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73636-E176-69D5-D414-A47C2B8FB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FA969-835C-4864-819C-2C8BA7CE33BD}" type="datetimeFigureOut">
              <a:rPr lang="en-US" smtClean="0"/>
              <a:pPr/>
              <a:t>10/28/2022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BC9A5-ED4B-ED35-0F92-10D37EF18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4E967-25A8-4605-587C-D79939D6D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D81D-DCF5-4E6F-9618-825660C08AD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3062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78C97-39C0-1347-16E2-161A02984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B5503-0C4B-EFFA-2BC7-55800E88E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36495-DBC4-0808-D4E7-41234F1B5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FA969-835C-4864-819C-2C8BA7CE33BD}" type="datetimeFigureOut">
              <a:rPr lang="en-US" smtClean="0"/>
              <a:pPr/>
              <a:t>10/28/2022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26589-CCFE-17EF-C6C8-80B4A86DC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12792-952C-8A41-814B-2741BAF32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D81D-DCF5-4E6F-9618-825660C08AD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7484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F6E7D-F7C0-3770-21B6-B53390D25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A339A-34DC-CE33-27D7-6A5B3626B3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821EA8-C471-C421-AF5B-0B3581C35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E2584-FB6D-DC0B-AE91-108FB9B15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FA969-835C-4864-819C-2C8BA7CE33BD}" type="datetimeFigureOut">
              <a:rPr lang="en-US" smtClean="0"/>
              <a:pPr/>
              <a:t>10/28/2022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02B3E-81CD-9D78-6C68-46489EBC3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3D326-6F66-CBAC-C0E7-9E41D1E5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D81D-DCF5-4E6F-9618-825660C08AD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591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F6AF7-C67A-56B2-538A-B2F5A48EE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50CED-A7DD-B58C-ED1C-DCE3055C7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7C2A83-5BF7-C597-AEF0-7CA6DC0B3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3853B2-3929-A5B8-1E6D-0D30269B5B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EC62F-2427-5FD3-3ABD-A14B996E9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C2AE5B-2DF1-4525-3847-65B701A26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FA969-835C-4864-819C-2C8BA7CE33BD}" type="datetimeFigureOut">
              <a:rPr lang="en-US" smtClean="0"/>
              <a:pPr/>
              <a:t>10/28/2022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FDCEF-30E1-07DE-648C-8AD2CE4AA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236A20-A3DA-4BC1-C8A4-7C9E786A4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D81D-DCF5-4E6F-9618-825660C08AD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231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5B6EE-41AA-2812-4363-EF3784F7D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C19F76-11D2-93C3-E1C2-9A4636FC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FA969-835C-4864-819C-2C8BA7CE33BD}" type="datetimeFigureOut">
              <a:rPr lang="en-US" smtClean="0"/>
              <a:pPr/>
              <a:t>10/28/2022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44150-54BD-8014-68F1-B40AC2EC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855378-7B40-9CD6-1E59-8D1F9F40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D81D-DCF5-4E6F-9618-825660C08AD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519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ACB638-ED2E-7CC3-A71F-6AD5D4442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FA969-835C-4864-819C-2C8BA7CE33BD}" type="datetimeFigureOut">
              <a:rPr lang="en-US" smtClean="0"/>
              <a:pPr/>
              <a:t>10/28/2022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AF622A-A3FC-7CAE-6430-F5BC156DA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A35AB-88E1-CFA0-B28C-400923811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D81D-DCF5-4E6F-9618-825660C08AD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199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AE2B4-0C76-22E7-15ED-58C524987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496F6-EA1F-6D36-FF10-9CA8FC7A9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E962A-E86A-B468-D58C-8343B9675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47818-2A68-1F01-64F7-FDD99C28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FA969-835C-4864-819C-2C8BA7CE33BD}" type="datetimeFigureOut">
              <a:rPr lang="en-US" smtClean="0"/>
              <a:pPr/>
              <a:t>10/28/2022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1E49B-499D-CED2-3904-BFD9D893A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1EE85-DA28-F1B3-E2B0-E770C131B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D81D-DCF5-4E6F-9618-825660C08AD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479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DDEF-DD6D-A200-6650-BC30FFC48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F04EE9-A6EB-2988-7B05-6E08435CE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01E9A-E4AD-2FEA-9A26-FC46E9121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2C1DB-5C22-7F30-FB4D-F9D523A9C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FA969-835C-4864-819C-2C8BA7CE33BD}" type="datetimeFigureOut">
              <a:rPr lang="en-US" smtClean="0"/>
              <a:pPr/>
              <a:t>10/28/2022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CBE5-BCCA-1B08-9726-2DEE355AB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6692C-4F48-A2C2-B8D9-69CFD6830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D81D-DCF5-4E6F-9618-825660C08AD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6224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8DA4A-B251-BEDB-1480-9EC32E017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5FE78B-B521-40A9-C87F-BAF0761FB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DE885-567E-2B2E-95BC-06729C92D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FA969-835C-4864-819C-2C8BA7CE33BD}" type="datetimeFigureOut">
              <a:rPr lang="en-US" smtClean="0"/>
              <a:pPr/>
              <a:t>10/28/2022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33739-B137-BBCE-25F6-57C8D875B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381C5-E630-80E7-2BF4-033E00C64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D81D-DCF5-4E6F-9618-825660C08AD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3586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1FC5D8-BA9F-215B-96E0-447D6A1FF8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A63F5-9728-82EA-E488-0C5345D4D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79C38-53FC-76AC-2A44-C79E8AE4A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FA969-835C-4864-819C-2C8BA7CE33BD}" type="datetimeFigureOut">
              <a:rPr lang="en-US" smtClean="0"/>
              <a:pPr/>
              <a:t>10/28/2022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75ABB-945C-39C9-74F1-D7C27E90A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065DE-1F4C-A142-5548-82A1E234D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8D81D-DCF5-4E6F-9618-825660C08AD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7073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B1DB13-39C9-F540-1DB0-423F9EFEF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D9F5F-1949-FF1B-5BF9-6540E4F53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56546-C076-2384-53C5-9E875DC803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FA969-835C-4864-819C-2C8BA7CE33BD}" type="datetimeFigureOut">
              <a:rPr lang="en-US" smtClean="0"/>
              <a:pPr/>
              <a:t>10/28/2022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0DDDE-B418-319C-0AFB-2B9EF7F6F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644C6-487B-6C3C-D6D5-0692DE6E9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8D81D-DCF5-4E6F-9618-825660C08AD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3691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42637" y="1296896"/>
            <a:ext cx="9396536" cy="2143140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AUTOMATIC ELECTRICITY BILLING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5213" y="4077072"/>
            <a:ext cx="9715536" cy="2143140"/>
          </a:xfrm>
        </p:spPr>
        <p:txBody>
          <a:bodyPr>
            <a:noAutofit/>
          </a:bodyPr>
          <a:lstStyle/>
          <a:p>
            <a:pPr algn="l"/>
            <a:r>
              <a:rPr lang="en-IN" sz="1800" dirty="0">
                <a:solidFill>
                  <a:srgbClr val="002060"/>
                </a:solidFill>
              </a:rPr>
              <a:t>       Guided By:                                                                                                            Presented By:                                   </a:t>
            </a:r>
          </a:p>
          <a:p>
            <a:pPr algn="l"/>
            <a:r>
              <a:rPr lang="en-IN" sz="1800" dirty="0">
                <a:solidFill>
                  <a:srgbClr val="002060"/>
                </a:solidFill>
              </a:rPr>
              <a:t>       Dr. S. Malathi   </a:t>
            </a:r>
          </a:p>
          <a:p>
            <a:pPr algn="l"/>
            <a:r>
              <a:rPr lang="en-IN" sz="1800" dirty="0">
                <a:solidFill>
                  <a:srgbClr val="002060"/>
                </a:solidFill>
              </a:rPr>
              <a:t>        Senior Assistant Professor                                                                        Kesava Satish Boppana</a:t>
            </a:r>
          </a:p>
          <a:p>
            <a:pPr algn="l"/>
            <a:r>
              <a:rPr lang="en-IN" sz="1800" dirty="0">
                <a:solidFill>
                  <a:srgbClr val="002060"/>
                </a:solidFill>
              </a:rPr>
              <a:t>       Sastra Deemed University                                                                          123005064</a:t>
            </a:r>
          </a:p>
          <a:p>
            <a:pPr algn="l"/>
            <a:r>
              <a:rPr lang="en-IN" sz="1800" dirty="0">
                <a:solidFill>
                  <a:srgbClr val="002060"/>
                </a:solidFill>
              </a:rPr>
              <a:t>                                                                                                                              Lakshmi Sankari G</a:t>
            </a:r>
          </a:p>
          <a:p>
            <a:pPr algn="l"/>
            <a:r>
              <a:rPr lang="en-IN" sz="1800" dirty="0">
                <a:solidFill>
                  <a:srgbClr val="002060"/>
                </a:solidFill>
              </a:rPr>
              <a:t>                                                                                                                              123005076</a:t>
            </a:r>
          </a:p>
          <a:p>
            <a:pPr algn="l"/>
            <a:r>
              <a:rPr lang="en-IN" sz="1800" dirty="0">
                <a:solidFill>
                  <a:srgbClr val="002060"/>
                </a:solidFill>
              </a:rPr>
              <a:t>                                                                                                                              Chandini Vantaku</a:t>
            </a:r>
          </a:p>
          <a:p>
            <a:pPr algn="l"/>
            <a:r>
              <a:rPr lang="en-IN" sz="1800" dirty="0">
                <a:solidFill>
                  <a:srgbClr val="002060"/>
                </a:solidFill>
              </a:rPr>
              <a:t>                                                                                                                              123005022</a:t>
            </a:r>
          </a:p>
          <a:p>
            <a:pPr algn="l"/>
            <a:endParaRPr lang="en-IN" sz="1800" dirty="0">
              <a:solidFill>
                <a:srgbClr val="002060"/>
              </a:solidFill>
            </a:endParaRPr>
          </a:p>
          <a:p>
            <a:pPr algn="l"/>
            <a:endParaRPr lang="en-IN" sz="1800" dirty="0">
              <a:solidFill>
                <a:srgbClr val="002060"/>
              </a:solidFill>
            </a:endParaRPr>
          </a:p>
        </p:txBody>
      </p:sp>
      <p:pic>
        <p:nvPicPr>
          <p:cNvPr id="4" name="Picture 3" descr="sastr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165" y="0"/>
            <a:ext cx="3560835" cy="11429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285860"/>
            <a:ext cx="8229600" cy="114300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2357430"/>
            <a:ext cx="8229600" cy="4714908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0"/>
              </a:rPr>
              <a:t>Motivation</a:t>
            </a:r>
          </a:p>
          <a:p>
            <a:r>
              <a:rPr lang="en-IN" sz="28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0"/>
              </a:rPr>
              <a:t>Objectives</a:t>
            </a:r>
          </a:p>
          <a:p>
            <a:r>
              <a:rPr lang="en-IN" sz="28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0"/>
              </a:rPr>
              <a:t>Significance of project</a:t>
            </a:r>
          </a:p>
          <a:p>
            <a:r>
              <a:rPr lang="en-IN" sz="28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0"/>
              </a:rPr>
              <a:t>Proposed methodology</a:t>
            </a:r>
          </a:p>
          <a:p>
            <a:r>
              <a:rPr lang="en-IN" sz="28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0"/>
              </a:rPr>
              <a:t>Completed work</a:t>
            </a:r>
          </a:p>
          <a:p>
            <a:r>
              <a:rPr lang="en-IN" sz="28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0"/>
              </a:rPr>
              <a:t>Output pictures</a:t>
            </a:r>
          </a:p>
          <a:p>
            <a:r>
              <a:rPr lang="en-IN" sz="2800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 Light" pitchFamily="34" charset="0"/>
              </a:rPr>
              <a:t>Work yet to be done</a:t>
            </a:r>
          </a:p>
        </p:txBody>
      </p:sp>
      <p:pic>
        <p:nvPicPr>
          <p:cNvPr id="4" name="Picture 3" descr="sastr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783" y="0"/>
            <a:ext cx="3459217" cy="11103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18828"/>
            <a:ext cx="8229600" cy="114300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153480"/>
            <a:ext cx="8507288" cy="4525963"/>
          </a:xfrm>
        </p:spPr>
        <p:txBody>
          <a:bodyPr>
            <a:normAutofit/>
          </a:bodyPr>
          <a:lstStyle/>
          <a:p>
            <a:r>
              <a:rPr lang="en-US" sz="2800" b="0" i="0" dirty="0">
                <a:solidFill>
                  <a:srgbClr val="002060"/>
                </a:solidFill>
                <a:effectLst/>
              </a:rPr>
              <a:t>With the current technology, There is a need to go to the </a:t>
            </a:r>
            <a:r>
              <a:rPr lang="en-US" sz="2800" i="0" dirty="0">
                <a:solidFill>
                  <a:srgbClr val="002060"/>
                </a:solidFill>
                <a:effectLst/>
              </a:rPr>
              <a:t>meter reading </a:t>
            </a:r>
            <a:r>
              <a:rPr lang="en-US" sz="2800" b="0" i="0" dirty="0">
                <a:solidFill>
                  <a:srgbClr val="002060"/>
                </a:solidFill>
                <a:effectLst/>
              </a:rPr>
              <a:t>room and take down readings. Thus, monitoring and keeping track records of the </a:t>
            </a:r>
            <a:r>
              <a:rPr lang="en-US" sz="2800" i="0" dirty="0">
                <a:solidFill>
                  <a:srgbClr val="002060"/>
                </a:solidFill>
                <a:effectLst/>
              </a:rPr>
              <a:t>electricity consumption </a:t>
            </a:r>
            <a:r>
              <a:rPr lang="en-US" sz="2800" b="0" i="0" dirty="0">
                <a:solidFill>
                  <a:srgbClr val="002060"/>
                </a:solidFill>
                <a:effectLst/>
              </a:rPr>
              <a:t>is a tedious task.</a:t>
            </a:r>
          </a:p>
          <a:p>
            <a:endParaRPr lang="en-US" sz="2800" b="0" i="0" dirty="0">
              <a:solidFill>
                <a:srgbClr val="002060"/>
              </a:solidFill>
              <a:effectLst/>
            </a:endParaRPr>
          </a:p>
          <a:p>
            <a:r>
              <a:rPr lang="en-US" sz="2800" b="0" i="0" dirty="0">
                <a:solidFill>
                  <a:srgbClr val="002060"/>
                </a:solidFill>
                <a:effectLst/>
              </a:rPr>
              <a:t>To automate this, Internet of Things can be implemented. Using The IOT can save time, electrical energy and money by collecting and automating </a:t>
            </a:r>
            <a:r>
              <a:rPr lang="en-US" sz="2800" i="0" dirty="0">
                <a:solidFill>
                  <a:srgbClr val="002060"/>
                </a:solidFill>
                <a:effectLst/>
              </a:rPr>
              <a:t>remote data collection</a:t>
            </a:r>
            <a:r>
              <a:rPr lang="en-US" sz="2800" b="0" i="0" dirty="0">
                <a:solidFill>
                  <a:srgbClr val="002060"/>
                </a:solidFill>
                <a:effectLst/>
              </a:rPr>
              <a:t>.</a:t>
            </a:r>
            <a:endParaRPr lang="en-IN" sz="2800" dirty="0">
              <a:solidFill>
                <a:srgbClr val="002060"/>
              </a:solidFill>
              <a:ea typeface="Cambria" panose="02040503050406030204" pitchFamily="18" charset="0"/>
              <a:cs typeface="Calibri Light" pitchFamily="34" charset="0"/>
            </a:endParaRPr>
          </a:p>
        </p:txBody>
      </p:sp>
      <p:pic>
        <p:nvPicPr>
          <p:cNvPr id="4" name="Picture 3" descr="sastr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608" y="0"/>
            <a:ext cx="3783392" cy="12144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006F0B-C322-4690-EAC5-4DCD14066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105273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EE6DC-37F6-51CF-C352-FB2EC7D20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506662"/>
            <a:ext cx="7886700" cy="4351338"/>
          </a:xfrm>
        </p:spPr>
        <p:txBody>
          <a:bodyPr>
            <a:normAutofit/>
          </a:bodyPr>
          <a:lstStyle/>
          <a:p>
            <a:r>
              <a:rPr lang="en-IN" sz="2800" dirty="0"/>
              <a:t>This project gives real time information on your energy used for regular intervals of time allowing to better the managing of usage.</a:t>
            </a:r>
          </a:p>
          <a:p>
            <a:pPr marL="0" indent="0">
              <a:buNone/>
            </a:pPr>
            <a:endParaRPr lang="en-IN" sz="2800" dirty="0"/>
          </a:p>
          <a:p>
            <a:r>
              <a:rPr lang="en-IN" sz="2800" dirty="0"/>
              <a:t>To help in increasing the transparency in billing and awareness about consumption of electricity through Blynk application (an android based interface).</a:t>
            </a:r>
          </a:p>
          <a:p>
            <a:endParaRPr lang="en-IN" sz="2800" dirty="0"/>
          </a:p>
        </p:txBody>
      </p:sp>
      <p:pic>
        <p:nvPicPr>
          <p:cNvPr id="5" name="Picture 4" descr="sastralogo.png">
            <a:extLst>
              <a:ext uri="{FF2B5EF4-FFF2-40B4-BE49-F238E27FC236}">
                <a16:creationId xmlns:a16="http://schemas.microsoft.com/office/drawing/2014/main" id="{E33404B9-77F2-8E20-7713-04FAEB038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608" y="0"/>
            <a:ext cx="3783392" cy="12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727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928670"/>
            <a:ext cx="8229600" cy="1582726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2571744"/>
            <a:ext cx="8229600" cy="3983047"/>
          </a:xfrm>
        </p:spPr>
        <p:txBody>
          <a:bodyPr>
            <a:normAutofit/>
          </a:bodyPr>
          <a:lstStyle/>
          <a:p>
            <a:pPr algn="l"/>
            <a:r>
              <a:rPr lang="en-US" sz="3200" b="0" i="0" dirty="0">
                <a:solidFill>
                  <a:srgbClr val="000000"/>
                </a:solidFill>
                <a:effectLst/>
                <a:latin typeface="ff2"/>
              </a:rPr>
              <a:t>The smart meter circuit is used to measure the accurate energy consumption for customers. </a:t>
            </a:r>
          </a:p>
          <a:p>
            <a:pPr marL="0" indent="0" algn="l">
              <a:buNone/>
            </a:pPr>
            <a:endParaRPr lang="en-US" sz="3200" b="0" i="0" dirty="0">
              <a:solidFill>
                <a:srgbClr val="000000"/>
              </a:solidFill>
              <a:effectLst/>
              <a:latin typeface="ff2"/>
            </a:endParaRPr>
          </a:p>
          <a:p>
            <a:pPr algn="l"/>
            <a:r>
              <a:rPr lang="en-US" sz="3200" b="0" i="0" dirty="0">
                <a:solidFill>
                  <a:srgbClr val="000000"/>
                </a:solidFill>
                <a:effectLst/>
                <a:latin typeface="ff2"/>
              </a:rPr>
              <a:t>With a flexible communication module, the meter provides varieties communication media for remote measuring and monitoring.</a:t>
            </a:r>
          </a:p>
          <a:p>
            <a:endParaRPr lang="en-IN" sz="3200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 descr="sastr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164" y="0"/>
            <a:ext cx="3560836" cy="11429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F6E00-2F6C-8B35-F361-137339854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368" y="105273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PROPOSED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4D523-20C0-3650-6ADE-15B8F8A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08" y="2195720"/>
            <a:ext cx="7886700" cy="4351338"/>
          </a:xfrm>
        </p:spPr>
        <p:txBody>
          <a:bodyPr>
            <a:normAutofit/>
          </a:bodyPr>
          <a:lstStyle/>
          <a:p>
            <a:r>
              <a:rPr lang="en-US" sz="2800" b="0" i="0" dirty="0">
                <a:solidFill>
                  <a:srgbClr val="002060"/>
                </a:solidFill>
                <a:effectLst/>
              </a:rPr>
              <a:t>The connection diagram </a:t>
            </a:r>
            <a:r>
              <a:rPr lang="en-US" sz="2800" dirty="0">
                <a:solidFill>
                  <a:srgbClr val="002060"/>
                </a:solidFill>
              </a:rPr>
              <a:t>has b</a:t>
            </a:r>
            <a:r>
              <a:rPr lang="en-US" sz="2800" b="0" i="0" dirty="0">
                <a:solidFill>
                  <a:srgbClr val="002060"/>
                </a:solidFill>
                <a:effectLst/>
              </a:rPr>
              <a:t>oth the Sensor, i.e. SCT-013 Current Sensor &amp; ZMPT101B Voltage Sensor VCC is connected to </a:t>
            </a:r>
            <a:r>
              <a:rPr lang="en-US" sz="2800" b="1" i="0" dirty="0">
                <a:solidFill>
                  <a:srgbClr val="002060"/>
                </a:solidFill>
                <a:effectLst/>
              </a:rPr>
              <a:t>Vin</a:t>
            </a:r>
            <a:r>
              <a:rPr lang="en-US" sz="2800" b="0" i="0" dirty="0">
                <a:solidFill>
                  <a:srgbClr val="002060"/>
                </a:solidFill>
                <a:effectLst/>
              </a:rPr>
              <a:t> of ESP32 which is a </a:t>
            </a:r>
            <a:r>
              <a:rPr lang="en-US" sz="2800" b="1" i="0" dirty="0">
                <a:solidFill>
                  <a:srgbClr val="002060"/>
                </a:solidFill>
                <a:effectLst/>
              </a:rPr>
              <a:t>5V Supply</a:t>
            </a:r>
            <a:r>
              <a:rPr lang="en-US" sz="2800" b="0" i="0" dirty="0">
                <a:solidFill>
                  <a:srgbClr val="002060"/>
                </a:solidFill>
                <a:effectLst/>
              </a:rPr>
              <a:t>. </a:t>
            </a:r>
          </a:p>
          <a:p>
            <a:pPr marL="0" indent="0">
              <a:buNone/>
            </a:pPr>
            <a:endParaRPr lang="en-US" sz="2800" b="0" i="0" dirty="0">
              <a:solidFill>
                <a:srgbClr val="002060"/>
              </a:solidFill>
              <a:effectLst/>
            </a:endParaRPr>
          </a:p>
          <a:p>
            <a:r>
              <a:rPr lang="en-US" sz="2800" b="0" i="0" dirty="0">
                <a:solidFill>
                  <a:srgbClr val="002060"/>
                </a:solidFill>
                <a:effectLst/>
              </a:rPr>
              <a:t>The GND pin of both the modules is connected to the </a:t>
            </a:r>
            <a:r>
              <a:rPr lang="en-US" sz="2800" b="1" i="0" dirty="0">
                <a:solidFill>
                  <a:srgbClr val="002060"/>
                </a:solidFill>
                <a:effectLst/>
              </a:rPr>
              <a:t>GND</a:t>
            </a:r>
            <a:r>
              <a:rPr lang="en-US" sz="2800" b="0" i="0" dirty="0">
                <a:solidFill>
                  <a:srgbClr val="002060"/>
                </a:solidFill>
                <a:effectLst/>
              </a:rPr>
              <a:t> of ESP32. The output analog pin of the ZMPT101B Voltage Sensor is connected to </a:t>
            </a:r>
            <a:r>
              <a:rPr lang="en-US" sz="2800" b="1" i="0" dirty="0">
                <a:solidFill>
                  <a:srgbClr val="002060"/>
                </a:solidFill>
                <a:effectLst/>
              </a:rPr>
              <a:t>GPIO35</a:t>
            </a:r>
            <a:r>
              <a:rPr lang="en-US" sz="2800" b="0" i="0" dirty="0">
                <a:solidFill>
                  <a:srgbClr val="002060"/>
                </a:solidFill>
                <a:effectLst/>
              </a:rPr>
              <a:t> of ESP32. </a:t>
            </a:r>
          </a:p>
        </p:txBody>
      </p:sp>
      <p:pic>
        <p:nvPicPr>
          <p:cNvPr id="4" name="Picture 3" descr="sastralogo.png">
            <a:extLst>
              <a:ext uri="{FF2B5EF4-FFF2-40B4-BE49-F238E27FC236}">
                <a16:creationId xmlns:a16="http://schemas.microsoft.com/office/drawing/2014/main" id="{B774FB85-AD7D-72A2-A157-37F02F6D7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164" y="-7968"/>
            <a:ext cx="3560836" cy="114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582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CD41E-89AE-21BF-6A90-56F8BAA63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954" y="975430"/>
            <a:ext cx="7886700" cy="1325563"/>
          </a:xfrm>
        </p:spPr>
        <p:txBody>
          <a:bodyPr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PROPOSED TECHNOLOGY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183B5-E330-1F0F-3EB7-41F1B8519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954" y="2132856"/>
            <a:ext cx="7886700" cy="4351338"/>
          </a:xfrm>
        </p:spPr>
        <p:txBody>
          <a:bodyPr>
            <a:noAutofit/>
          </a:bodyPr>
          <a:lstStyle/>
          <a:p>
            <a:r>
              <a:rPr lang="en-US" sz="2800" b="0" i="0" dirty="0">
                <a:solidFill>
                  <a:srgbClr val="002060"/>
                </a:solidFill>
                <a:effectLst/>
              </a:rPr>
              <a:t>Similarly, the output analog pin of SCT-013 Current Sensor is connected to</a:t>
            </a:r>
            <a:r>
              <a:rPr lang="en-US" sz="2800" i="0" dirty="0">
                <a:solidFill>
                  <a:srgbClr val="002060"/>
                </a:solidFill>
                <a:effectLst/>
              </a:rPr>
              <a:t> GPIO34 </a:t>
            </a:r>
            <a:r>
              <a:rPr lang="en-US" sz="2800" b="0" i="0" dirty="0">
                <a:solidFill>
                  <a:srgbClr val="002060"/>
                </a:solidFill>
                <a:effectLst/>
              </a:rPr>
              <a:t>of ESP32. You need a two resistor of </a:t>
            </a:r>
            <a:r>
              <a:rPr lang="en-US" sz="2800" i="0" dirty="0">
                <a:solidFill>
                  <a:srgbClr val="002060"/>
                </a:solidFill>
                <a:effectLst/>
              </a:rPr>
              <a:t>10K </a:t>
            </a:r>
            <a:r>
              <a:rPr lang="en-US" sz="2800" b="0" i="0" dirty="0">
                <a:solidFill>
                  <a:srgbClr val="002060"/>
                </a:solidFill>
                <a:effectLst/>
              </a:rPr>
              <a:t>&amp; a single resistor of </a:t>
            </a:r>
            <a:r>
              <a:rPr lang="en-US" sz="2800" i="0" dirty="0">
                <a:solidFill>
                  <a:srgbClr val="002060"/>
                </a:solidFill>
                <a:effectLst/>
              </a:rPr>
              <a:t>100 ohms </a:t>
            </a:r>
            <a:r>
              <a:rPr lang="en-US" sz="2800" b="0" i="0" dirty="0">
                <a:solidFill>
                  <a:srgbClr val="002060"/>
                </a:solidFill>
                <a:effectLst/>
              </a:rPr>
              <a:t>connected along with a </a:t>
            </a:r>
            <a:r>
              <a:rPr lang="en-US" sz="2800" i="0" dirty="0">
                <a:solidFill>
                  <a:srgbClr val="002060"/>
                </a:solidFill>
                <a:effectLst/>
              </a:rPr>
              <a:t>10uF</a:t>
            </a:r>
            <a:r>
              <a:rPr lang="en-US" sz="2800" b="0" i="0" dirty="0">
                <a:solidFill>
                  <a:srgbClr val="002060"/>
                </a:solidFill>
                <a:effectLst/>
              </a:rPr>
              <a:t> Capacitor.</a:t>
            </a:r>
          </a:p>
          <a:p>
            <a:pPr marL="0" indent="0">
              <a:buNone/>
            </a:pPr>
            <a:endParaRPr lang="en-US" sz="2800" b="0" i="0" dirty="0">
              <a:solidFill>
                <a:srgbClr val="002060"/>
              </a:solidFill>
              <a:effectLst/>
            </a:endParaRPr>
          </a:p>
          <a:p>
            <a:r>
              <a:rPr lang="en-US" sz="2800" b="0" i="0" dirty="0">
                <a:solidFill>
                  <a:srgbClr val="002060"/>
                </a:solidFill>
                <a:effectLst/>
              </a:rPr>
              <a:t>Blynk is an application that runs over Android and IOS devices to </a:t>
            </a:r>
            <a:r>
              <a:rPr lang="en-US" sz="2800" i="0" dirty="0">
                <a:solidFill>
                  <a:srgbClr val="002060"/>
                </a:solidFill>
                <a:effectLst/>
              </a:rPr>
              <a:t>control any IoT based application </a:t>
            </a:r>
            <a:r>
              <a:rPr lang="en-US" sz="2800" b="0" i="0" dirty="0">
                <a:solidFill>
                  <a:srgbClr val="002060"/>
                </a:solidFill>
                <a:effectLst/>
              </a:rPr>
              <a:t>using Smartphones. It allows user to create your Graphical user interface for IoT application. Here we will display the IoT Energy Meter Data on Blynk Application.</a:t>
            </a:r>
          </a:p>
          <a:p>
            <a:pPr marL="0" indent="0">
              <a:buNone/>
            </a:pPr>
            <a:endParaRPr lang="en-US" sz="2800" b="0" i="0" dirty="0">
              <a:solidFill>
                <a:srgbClr val="002060"/>
              </a:solidFill>
              <a:effectLst/>
            </a:endParaRPr>
          </a:p>
          <a:p>
            <a:pPr marL="0" indent="0">
              <a:buNone/>
            </a:pPr>
            <a:endParaRPr lang="en-IN" sz="2800" dirty="0"/>
          </a:p>
        </p:txBody>
      </p:sp>
      <p:pic>
        <p:nvPicPr>
          <p:cNvPr id="4" name="Picture 3" descr="sastralogo.png">
            <a:extLst>
              <a:ext uri="{FF2B5EF4-FFF2-40B4-BE49-F238E27FC236}">
                <a16:creationId xmlns:a16="http://schemas.microsoft.com/office/drawing/2014/main" id="{0D5A7C96-958B-D49D-46D5-D143E3ED2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164" y="-7968"/>
            <a:ext cx="3560836" cy="114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698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A5E9A-ADED-81EB-F4C2-1B17D95F8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958168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CIRCUIT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FB4510-B753-DE72-5C09-6A5EF8793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251976" y="1287507"/>
            <a:ext cx="4640047" cy="6186729"/>
          </a:xfrm>
          <a:prstGeom prst="rect">
            <a:avLst/>
          </a:prstGeom>
        </p:spPr>
      </p:pic>
      <p:pic>
        <p:nvPicPr>
          <p:cNvPr id="5" name="Picture 4" descr="sastralogo.png">
            <a:extLst>
              <a:ext uri="{FF2B5EF4-FFF2-40B4-BE49-F238E27FC236}">
                <a16:creationId xmlns:a16="http://schemas.microsoft.com/office/drawing/2014/main" id="{81E4A58E-966E-68D5-FA6B-11D10E9EE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164" y="0"/>
            <a:ext cx="3560836" cy="114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263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quadPixel Esp-32 Wifi, Bluetooth, Dual Core Chip Development Board  (ESP-WROOM-32) : Amazon.in: Computers &amp; Accessories">
            <a:extLst>
              <a:ext uri="{FF2B5EF4-FFF2-40B4-BE49-F238E27FC236}">
                <a16:creationId xmlns:a16="http://schemas.microsoft.com/office/drawing/2014/main" id="{30217F75-90D5-032A-B96C-4EADD1442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28" y="696968"/>
            <a:ext cx="2617837" cy="2617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sastralogo.png">
            <a:extLst>
              <a:ext uri="{FF2B5EF4-FFF2-40B4-BE49-F238E27FC236}">
                <a16:creationId xmlns:a16="http://schemas.microsoft.com/office/drawing/2014/main" id="{7E7FF9B4-7D5A-FBA0-F8FD-27E87CE33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164" y="0"/>
            <a:ext cx="3560836" cy="1142984"/>
          </a:xfrm>
          <a:prstGeom prst="rect">
            <a:avLst/>
          </a:prstGeom>
        </p:spPr>
      </p:pic>
      <p:pic>
        <p:nvPicPr>
          <p:cNvPr id="1028" name="Picture 4" descr="Buy ZMPT101B single phase voltage sensor Online in India | Robocraze">
            <a:extLst>
              <a:ext uri="{FF2B5EF4-FFF2-40B4-BE49-F238E27FC236}">
                <a16:creationId xmlns:a16="http://schemas.microsoft.com/office/drawing/2014/main" id="{3CBE48B8-C29D-E73E-9951-A6EA20762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96952"/>
            <a:ext cx="3203848" cy="2145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CT013 - Current sensor">
            <a:extLst>
              <a:ext uri="{FF2B5EF4-FFF2-40B4-BE49-F238E27FC236}">
                <a16:creationId xmlns:a16="http://schemas.microsoft.com/office/drawing/2014/main" id="{C90A67BB-DB48-4997-92BB-7CC24EFD7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78" y="4941167"/>
            <a:ext cx="2211422" cy="1824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520DC4-D791-83F4-F575-F11A35B7E930}"/>
              </a:ext>
            </a:extLst>
          </p:cNvPr>
          <p:cNvSpPr txBox="1"/>
          <p:nvPr/>
        </p:nvSpPr>
        <p:spPr>
          <a:xfrm>
            <a:off x="4211960" y="1498056"/>
            <a:ext cx="44199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Esp-32 micro controller:</a:t>
            </a:r>
          </a:p>
          <a:p>
            <a:r>
              <a:rPr lang="en-US" dirty="0">
                <a:solidFill>
                  <a:srgbClr val="002060"/>
                </a:solidFill>
              </a:rPr>
              <a:t>Integrated with wi-fi module also, can be connected to lcd if required.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694032-D832-2F77-BCAC-F0B78527EA5F}"/>
              </a:ext>
            </a:extLst>
          </p:cNvPr>
          <p:cNvSpPr txBox="1"/>
          <p:nvPr/>
        </p:nvSpPr>
        <p:spPr>
          <a:xfrm>
            <a:off x="4211960" y="3392111"/>
            <a:ext cx="381642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ZMPT 101B :</a:t>
            </a:r>
          </a:p>
          <a:p>
            <a:r>
              <a:rPr lang="en-US" dirty="0">
                <a:solidFill>
                  <a:srgbClr val="002060"/>
                </a:solidFill>
              </a:rPr>
              <a:t>Comes with voltage transformer which can be used to measure and sense voltage up to 250V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7FB2EA-6B13-465A-67CA-E00F9DFF5BC9}"/>
              </a:ext>
            </a:extLst>
          </p:cNvPr>
          <p:cNvSpPr txBox="1"/>
          <p:nvPr/>
        </p:nvSpPr>
        <p:spPr>
          <a:xfrm flipH="1">
            <a:off x="4212704" y="5345720"/>
            <a:ext cx="44199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SCT013 :</a:t>
            </a:r>
          </a:p>
          <a:p>
            <a:r>
              <a:rPr lang="en-US" dirty="0">
                <a:solidFill>
                  <a:srgbClr val="002060"/>
                </a:solidFill>
              </a:rPr>
              <a:t>Split core type current transformer which can be used to sense current up to 30 A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216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C0CFA-ABBB-9688-A7D9-1F5E4FD1E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865044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WORK YET TO BE DONE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366B7-1500-8BC7-E357-2E6BD51B3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90607"/>
            <a:ext cx="7886700" cy="4351338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2060"/>
                </a:solidFill>
              </a:rPr>
              <a:t>Interfacing the circuit with the Blynk website to monitor the current, voltage and units consumed for regular intervals of time.</a:t>
            </a:r>
          </a:p>
          <a:p>
            <a:r>
              <a:rPr lang="en-IN" sz="2800" dirty="0">
                <a:solidFill>
                  <a:srgbClr val="002060"/>
                </a:solidFill>
              </a:rPr>
              <a:t>The code to be dumped in ESP-32 module to get the values displayed in the LCD.</a:t>
            </a:r>
          </a:p>
          <a:p>
            <a:r>
              <a:rPr lang="en-IN" sz="2800" dirty="0">
                <a:solidFill>
                  <a:srgbClr val="002060"/>
                </a:solidFill>
              </a:rPr>
              <a:t>Displaying the output from the circuit on Blynk app and calculation of electricity bill based on the cost per unit.</a:t>
            </a:r>
          </a:p>
          <a:p>
            <a:pPr marL="0" indent="0">
              <a:buNone/>
            </a:pPr>
            <a:endParaRPr lang="en-IN" sz="2800" dirty="0">
              <a:solidFill>
                <a:srgbClr val="002060"/>
              </a:solidFill>
            </a:endParaRPr>
          </a:p>
          <a:p>
            <a:endParaRPr lang="en-IN" sz="2800" dirty="0">
              <a:solidFill>
                <a:srgbClr val="002060"/>
              </a:solidFill>
            </a:endParaRPr>
          </a:p>
          <a:p>
            <a:endParaRPr lang="en-IN" sz="2800" dirty="0">
              <a:solidFill>
                <a:srgbClr val="002060"/>
              </a:solidFill>
            </a:endParaRPr>
          </a:p>
        </p:txBody>
      </p:sp>
      <p:pic>
        <p:nvPicPr>
          <p:cNvPr id="4" name="Picture 3" descr="sastralogo.png">
            <a:extLst>
              <a:ext uri="{FF2B5EF4-FFF2-40B4-BE49-F238E27FC236}">
                <a16:creationId xmlns:a16="http://schemas.microsoft.com/office/drawing/2014/main" id="{1FAC7FE9-0CE9-C08C-601B-930036819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164" y="0"/>
            <a:ext cx="3560836" cy="114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319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000108"/>
            <a:ext cx="8229600" cy="5226064"/>
          </a:xfrm>
        </p:spPr>
        <p:txBody>
          <a:bodyPr>
            <a:normAutofit/>
          </a:bodyPr>
          <a:lstStyle/>
          <a:p>
            <a:pPr algn="ctr"/>
            <a:r>
              <a:rPr lang="en-IN" sz="6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</a:p>
        </p:txBody>
      </p:sp>
      <p:pic>
        <p:nvPicPr>
          <p:cNvPr id="3" name="Picture 2" descr="sastr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80" y="0"/>
            <a:ext cx="3857620" cy="12382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</TotalTime>
  <Words>481</Words>
  <Application>Microsoft Office PowerPoint</Application>
  <PresentationFormat>On-screen Show (4:3)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ff2</vt:lpstr>
      <vt:lpstr>Office Theme</vt:lpstr>
      <vt:lpstr>AUTOMATIC ELECTRICITY BILLING SYSTEM</vt:lpstr>
      <vt:lpstr>OUTLINE</vt:lpstr>
      <vt:lpstr>MOTIVATION</vt:lpstr>
      <vt:lpstr>OBJECTIVES</vt:lpstr>
      <vt:lpstr>SIGNIFICANCE</vt:lpstr>
      <vt:lpstr>PROPOSED TECHNOLOGY</vt:lpstr>
      <vt:lpstr>PROPOSED TECHNOLOGY</vt:lpstr>
      <vt:lpstr>CIRCUIT PICTURE</vt:lpstr>
      <vt:lpstr>PowerPoint Presentation</vt:lpstr>
      <vt:lpstr>WORK YET TO BE DONE</vt:lpstr>
      <vt:lpstr>THANK YOU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ELECTRICITY BILLING SYSTEM</dc:title>
  <dc:creator>acer</dc:creator>
  <cp:lastModifiedBy>saisriram rocky</cp:lastModifiedBy>
  <cp:revision>17</cp:revision>
  <dcterms:created xsi:type="dcterms:W3CDTF">2022-09-17T07:25:31Z</dcterms:created>
  <dcterms:modified xsi:type="dcterms:W3CDTF">2022-10-28T11:06:24Z</dcterms:modified>
</cp:coreProperties>
</file>